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6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4944" y="603504"/>
            <a:ext cx="2039112" cy="292608"/>
          </a:xfrm>
          <a:prstGeom prst="roundRect">
            <a:avLst>
              <a:gd name="adj" fmla="val 30000"/>
            </a:avLst>
          </a:prstGeom>
          <a:solidFill>
            <a:srgbClr val="0C2736"/>
          </a:solidFill>
          <a:ln w="10160">
            <a:solidFill>
              <a:srgbClr val="17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1228"/>
            <a:ext cx="17830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48E4D2"/>
                </a:solidFill>
                <a:latin typeface="Inter"/>
              </a:rPr>
              <a:t>ФИНТЕХ БЕЗ ГРАНИЦ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225296"/>
            <a:ext cx="713232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100" b="1">
                <a:solidFill>
                  <a:srgbClr val="48E4D2"/>
                </a:solidFill>
                <a:latin typeface="Inter"/>
              </a:rPr>
              <a:t>Business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112264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F2FEFF"/>
                </a:solidFill>
                <a:latin typeface="Inter"/>
              </a:rPr>
              <a:t>AI-ассистент для запуска бизнеса.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F2FEFF"/>
                </a:solidFill>
                <a:latin typeface="Inter"/>
              </a:rPr>
              <a:t>Новый канал привлечения клиентов для банка.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163824"/>
            <a:ext cx="4434840" cy="0"/>
          </a:xfrm>
          <a:prstGeom prst="line">
            <a:avLst/>
          </a:prstGeom>
          <a:ln w="1270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374136"/>
            <a:ext cx="32918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8E4D2"/>
                </a:solidFill>
                <a:latin typeface="Inter"/>
              </a:rPr>
              <a:t>Что это такое</a:t>
            </a:r>
          </a:p>
        </p:txBody>
      </p:sp>
      <p:sp>
        <p:nvSpPr>
          <p:cNvPr id="9" name="Oval 8"/>
          <p:cNvSpPr/>
          <p:nvPr/>
        </p:nvSpPr>
        <p:spPr>
          <a:xfrm>
            <a:off x="795528" y="3931920"/>
            <a:ext cx="64008" cy="64008"/>
          </a:xfrm>
          <a:prstGeom prst="ellipse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3813048"/>
            <a:ext cx="45079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F2FEFF"/>
                </a:solidFill>
                <a:latin typeface="Inter"/>
              </a:rPr>
              <a:t>Помогает выбрать перспективную локацию</a:t>
            </a:r>
          </a:p>
        </p:txBody>
      </p:sp>
      <p:sp>
        <p:nvSpPr>
          <p:cNvPr id="11" name="Oval 10"/>
          <p:cNvSpPr/>
          <p:nvPr/>
        </p:nvSpPr>
        <p:spPr>
          <a:xfrm>
            <a:off x="795528" y="4370832"/>
            <a:ext cx="64008" cy="64008"/>
          </a:xfrm>
          <a:prstGeom prst="ellipse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4251960"/>
            <a:ext cx="45079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F2FEFF"/>
                </a:solidFill>
                <a:latin typeface="Inter"/>
              </a:rPr>
              <a:t>Считает базовую финансовую модель</a:t>
            </a:r>
          </a:p>
        </p:txBody>
      </p:sp>
      <p:sp>
        <p:nvSpPr>
          <p:cNvPr id="13" name="Oval 12"/>
          <p:cNvSpPr/>
          <p:nvPr/>
        </p:nvSpPr>
        <p:spPr>
          <a:xfrm>
            <a:off x="795528" y="4809744"/>
            <a:ext cx="64008" cy="64008"/>
          </a:xfrm>
          <a:prstGeom prst="ellipse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690872"/>
            <a:ext cx="45079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F2FEFF"/>
                </a:solidFill>
                <a:latin typeface="Inter"/>
              </a:rPr>
              <a:t>Подбирает релевантные продукты ВТБ</a:t>
            </a:r>
          </a:p>
        </p:txBody>
      </p:sp>
      <p:sp>
        <p:nvSpPr>
          <p:cNvPr id="15" name="Oval 14"/>
          <p:cNvSpPr/>
          <p:nvPr/>
        </p:nvSpPr>
        <p:spPr>
          <a:xfrm>
            <a:off x="795528" y="5248655"/>
            <a:ext cx="64008" cy="64008"/>
          </a:xfrm>
          <a:prstGeom prst="ellipse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5129783"/>
            <a:ext cx="450799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>
                <a:solidFill>
                  <a:srgbClr val="F2FEFF"/>
                </a:solidFill>
                <a:latin typeface="Inter"/>
              </a:rPr>
              <a:t>Формирует квалифицированную заявку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25312" y="2029968"/>
            <a:ext cx="5440680" cy="3154680"/>
          </a:xfrm>
          <a:prstGeom prst="roundRect">
            <a:avLst>
              <a:gd name="adj" fmla="val 10000"/>
            </a:avLst>
          </a:prstGeom>
          <a:solidFill>
            <a:srgbClr val="0A2030"/>
          </a:solidFill>
          <a:ln w="10160">
            <a:solidFill>
              <a:srgbClr val="17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at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2139696"/>
            <a:ext cx="5330952" cy="29260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22376" y="5861304"/>
            <a:ext cx="8001000" cy="20116"/>
          </a:xfrm>
          <a:prstGeom prst="rect">
            <a:avLst/>
          </a:prstGeom>
          <a:solidFill>
            <a:srgbClr val="174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6007608"/>
            <a:ext cx="81381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8F5E7"/>
                </a:solidFill>
                <a:latin typeface="Inter"/>
              </a:rPr>
              <a:t>Чат → Геоаналитика → Финмодель → Продукты банка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92824"/>
            <a:ext cx="5852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8E9D"/>
                </a:solidFill>
                <a:latin typeface="Inter"/>
              </a:rPr>
              <a:t>Sab0tage  •  Академия Финтеха 2026  •  ВТБ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194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FBDC7"/>
                </a:solidFill>
                <a:latin typeface="Inter"/>
              </a:rPr>
              <a:t>BUSINESS AI  /  01 /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1945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8E9D"/>
                </a:solidFill>
                <a:latin typeface="Inter"/>
              </a:rPr>
              <a:t>02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521207"/>
            <a:ext cx="10954512" cy="0"/>
          </a:xfrm>
          <a:prstGeom prst="line">
            <a:avLst/>
          </a:prstGeom>
          <a:ln w="635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704088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2FEFF"/>
                </a:solidFill>
                <a:latin typeface="Inter"/>
              </a:rPr>
              <a:t>Почему продукт нужен рынку?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22529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9FBDC7"/>
                </a:solidFill>
                <a:latin typeface="Inter"/>
              </a:rPr>
              <a:t>Открыть бизнес сложно: данные разрознены, ошибки стоят дорого.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" y="1938528"/>
            <a:ext cx="3419856" cy="20116"/>
          </a:xfrm>
          <a:prstGeom prst="rect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157984"/>
            <a:ext cx="341985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>
                <a:solidFill>
                  <a:srgbClr val="F2FEFF"/>
                </a:solidFill>
                <a:latin typeface="Inter"/>
              </a:rPr>
              <a:t>Проблема предпринимателя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798064"/>
            <a:ext cx="3236976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9FBDC7"/>
                </a:solidFill>
                <a:latin typeface="Inter"/>
              </a:rPr>
              <a:t>Нужно сравнивать районы, конкурентов, аренду, спрос и риски.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0664" y="3602736"/>
            <a:ext cx="3419856" cy="0"/>
          </a:xfrm>
          <a:prstGeom prst="line">
            <a:avLst/>
          </a:prstGeom>
          <a:ln w="9525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0664" y="3721608"/>
            <a:ext cx="3236976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9FBDC7"/>
                </a:solidFill>
                <a:latin typeface="Inter"/>
              </a:rPr>
              <a:t>Данные находятся в разных сервисах и плохо сопоставимы.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" y="4526280"/>
            <a:ext cx="3419856" cy="0"/>
          </a:xfrm>
          <a:prstGeom prst="line">
            <a:avLst/>
          </a:prstGeom>
          <a:ln w="9525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0664" y="4645152"/>
            <a:ext cx="3236976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9FBDC7"/>
                </a:solidFill>
                <a:latin typeface="Inter"/>
              </a:rPr>
              <a:t>У начинающего предпринимателя часто нет ни аналитика, ни бюджета на исследование.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938528"/>
            <a:ext cx="3337560" cy="20116"/>
          </a:xfrm>
          <a:prstGeom prst="rect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157984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>
                <a:solidFill>
                  <a:srgbClr val="F2FEFF"/>
                </a:solidFill>
                <a:latin typeface="Inter"/>
              </a:rPr>
              <a:t>Проблема банка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98064"/>
            <a:ext cx="315467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9FBDC7"/>
                </a:solidFill>
                <a:latin typeface="Inter"/>
              </a:rPr>
              <a:t>Банк приходит поздно — когда клиент уже выбрал путь и часть сервисов.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89120" y="3602736"/>
            <a:ext cx="3337559" cy="0"/>
          </a:xfrm>
          <a:prstGeom prst="line">
            <a:avLst/>
          </a:prstGeom>
          <a:ln w="9525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89120" y="3721608"/>
            <a:ext cx="315467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9FBDC7"/>
                </a:solidFill>
                <a:latin typeface="Inter"/>
              </a:rPr>
              <a:t>Трудно выявить потребность клиента на стадии идеи бизнеса.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89120" y="4526280"/>
            <a:ext cx="3337559" cy="0"/>
          </a:xfrm>
          <a:prstGeom prst="line">
            <a:avLst/>
          </a:prstGeom>
          <a:ln w="9525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89120" y="4645152"/>
            <a:ext cx="315467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9FBDC7"/>
                </a:solidFill>
                <a:latin typeface="Inter"/>
              </a:rPr>
              <a:t>Первичное консультирование дорого масштабируется вручную.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1938528"/>
            <a:ext cx="3438144" cy="20116"/>
          </a:xfrm>
          <a:prstGeom prst="rect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2157984"/>
            <a:ext cx="34381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>
                <a:solidFill>
                  <a:srgbClr val="F2FEFF"/>
                </a:solidFill>
                <a:latin typeface="Inter"/>
              </a:rPr>
              <a:t>Что меняется на рынке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2798064"/>
            <a:ext cx="3255263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9FBDC7"/>
                </a:solidFill>
                <a:latin typeface="Inter"/>
              </a:rPr>
              <a:t>У банков и геоаналитических платформ уже появляются похожие сервисы.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73568" y="3602736"/>
            <a:ext cx="3438144" cy="0"/>
          </a:xfrm>
          <a:prstGeom prst="line">
            <a:avLst/>
          </a:prstGeom>
          <a:ln w="9525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73568" y="3721608"/>
            <a:ext cx="3255263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9FBDC7"/>
                </a:solidFill>
                <a:latin typeface="Inter"/>
              </a:rPr>
              <a:t>Предприниматели привыкают к диалоговым AI-инструментам.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73568" y="4526280"/>
            <a:ext cx="3438144" cy="0"/>
          </a:xfrm>
          <a:prstGeom prst="line">
            <a:avLst/>
          </a:prstGeom>
          <a:ln w="9525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73568" y="4645152"/>
            <a:ext cx="3255263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9FBDC7"/>
                </a:solidFill>
                <a:latin typeface="Inter"/>
              </a:rPr>
              <a:t>Сейчас подходящее окно для продукта банка.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5413248"/>
            <a:ext cx="10744200" cy="0"/>
          </a:xfrm>
          <a:prstGeom prst="line">
            <a:avLst/>
          </a:prstGeom>
          <a:ln w="1270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58952" y="5577840"/>
            <a:ext cx="32461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8E4D2"/>
                </a:solidFill>
                <a:latin typeface="Inter"/>
              </a:rPr>
              <a:t>ранний этап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6025896"/>
            <a:ext cx="3337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DC7"/>
                </a:solidFill>
                <a:latin typeface="Inter"/>
              </a:rPr>
              <a:t>момент, когда банк может прийти к клиенту раньше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5577840"/>
            <a:ext cx="32461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8E4D2"/>
                </a:solidFill>
                <a:latin typeface="Inter"/>
              </a:rPr>
              <a:t>1 интерфейс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6025896"/>
            <a:ext cx="3337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DC7"/>
                </a:solidFill>
                <a:latin typeface="Inter"/>
              </a:rPr>
              <a:t>вместо множества карт, таблиц и калькуляторов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5577840"/>
            <a:ext cx="32461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8E4D2"/>
                </a:solidFill>
                <a:latin typeface="Inter"/>
              </a:rPr>
              <a:t>2 аудитории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6025896"/>
            <a:ext cx="3337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DC7"/>
                </a:solidFill>
                <a:latin typeface="Inter"/>
              </a:rPr>
              <a:t>ценность и для предпринимателя, и для банка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592824"/>
            <a:ext cx="5852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8E9D"/>
                </a:solidFill>
                <a:latin typeface="Inter"/>
              </a:rPr>
              <a:t>Sab0tage  •  Академия Финтеха 2026  •  ВТБ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194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FBDC7"/>
                </a:solidFill>
                <a:latin typeface="Inter"/>
              </a:rPr>
              <a:t>BUSINESS AI  /  02 /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1945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8E9D"/>
                </a:solidFill>
                <a:latin typeface="Inter"/>
              </a:rPr>
              <a:t>03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521207"/>
            <a:ext cx="10954512" cy="0"/>
          </a:xfrm>
          <a:prstGeom prst="line">
            <a:avLst/>
          </a:prstGeom>
          <a:ln w="635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704088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2FEFF"/>
                </a:solidFill>
                <a:latin typeface="Inter"/>
              </a:rPr>
              <a:t>Business AI: один диалог — комплексный план запуска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22529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9FBDC7"/>
                </a:solidFill>
                <a:latin typeface="Inter"/>
              </a:rPr>
              <a:t>В центре не чат-бот, а связка AI + аналитических инструментов.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61288" y="2432304"/>
            <a:ext cx="9857232" cy="0"/>
          </a:xfrm>
          <a:prstGeom prst="line">
            <a:avLst/>
          </a:prstGeom>
          <a:ln w="2540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453895" y="2148840"/>
            <a:ext cx="576072" cy="576072"/>
          </a:xfrm>
          <a:prstGeom prst="ellipse">
            <a:avLst/>
          </a:prstGeom>
          <a:solidFill>
            <a:srgbClr val="04101F"/>
          </a:solidFill>
          <a:ln w="25400">
            <a:solidFill>
              <a:srgbClr val="48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53895" y="2249424"/>
            <a:ext cx="585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8E4D2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054096"/>
            <a:ext cx="214884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F2FEFF"/>
                </a:solidFill>
                <a:latin typeface="Inter"/>
              </a:rPr>
              <a:t>Собирает вводные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986784"/>
            <a:ext cx="21671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DC7"/>
                </a:solidFill>
                <a:latin typeface="Inter"/>
              </a:rPr>
              <a:t>город, бюджет,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DC7"/>
                </a:solidFill>
                <a:latin typeface="Inter"/>
              </a:rPr>
              <a:t>формат бизнеса, цели</a:t>
            </a:r>
          </a:p>
        </p:txBody>
      </p:sp>
      <p:sp>
        <p:nvSpPr>
          <p:cNvPr id="13" name="Oval 12"/>
          <p:cNvSpPr/>
          <p:nvPr/>
        </p:nvSpPr>
        <p:spPr>
          <a:xfrm>
            <a:off x="3721608" y="2148840"/>
            <a:ext cx="576072" cy="576072"/>
          </a:xfrm>
          <a:prstGeom prst="ellipse">
            <a:avLst/>
          </a:prstGeom>
          <a:solidFill>
            <a:srgbClr val="04101F"/>
          </a:solidFill>
          <a:ln w="25400">
            <a:solidFill>
              <a:srgbClr val="48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2249424"/>
            <a:ext cx="585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8E4D2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054096"/>
            <a:ext cx="214884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F2FEFF"/>
                </a:solidFill>
                <a:latin typeface="Inter"/>
              </a:rPr>
              <a:t>Анализирует локации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986784"/>
            <a:ext cx="21671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DC7"/>
                </a:solidFill>
                <a:latin typeface="Inter"/>
              </a:rPr>
              <a:t>геоданные, конкуренты,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DC7"/>
                </a:solidFill>
                <a:latin typeface="Inter"/>
              </a:rPr>
              <a:t>инфраструктура</a:t>
            </a:r>
          </a:p>
        </p:txBody>
      </p:sp>
      <p:sp>
        <p:nvSpPr>
          <p:cNvPr id="17" name="Oval 16"/>
          <p:cNvSpPr/>
          <p:nvPr/>
        </p:nvSpPr>
        <p:spPr>
          <a:xfrm>
            <a:off x="5998464" y="2148840"/>
            <a:ext cx="576072" cy="576072"/>
          </a:xfrm>
          <a:prstGeom prst="ellipse">
            <a:avLst/>
          </a:prstGeom>
          <a:solidFill>
            <a:srgbClr val="04101F"/>
          </a:solidFill>
          <a:ln w="25400">
            <a:solidFill>
              <a:srgbClr val="48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98464" y="2249424"/>
            <a:ext cx="585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8E4D2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3054096"/>
            <a:ext cx="214884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F2FEFF"/>
                </a:solidFill>
                <a:latin typeface="Inter"/>
              </a:rPr>
              <a:t>Считает экономику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3986784"/>
            <a:ext cx="21671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DC7"/>
                </a:solidFill>
                <a:latin typeface="Inter"/>
              </a:rPr>
              <a:t>аренда, расходы,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DC7"/>
                </a:solidFill>
                <a:latin typeface="Inter"/>
              </a:rPr>
              <a:t>безубыточность</a:t>
            </a:r>
          </a:p>
        </p:txBody>
      </p:sp>
      <p:sp>
        <p:nvSpPr>
          <p:cNvPr id="21" name="Oval 20"/>
          <p:cNvSpPr/>
          <p:nvPr/>
        </p:nvSpPr>
        <p:spPr>
          <a:xfrm>
            <a:off x="8266176" y="2148840"/>
            <a:ext cx="576072" cy="576072"/>
          </a:xfrm>
          <a:prstGeom prst="ellipse">
            <a:avLst/>
          </a:prstGeom>
          <a:solidFill>
            <a:srgbClr val="04101F"/>
          </a:solidFill>
          <a:ln w="25400">
            <a:solidFill>
              <a:srgbClr val="48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249424"/>
            <a:ext cx="585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8E4D2"/>
                </a:solidFill>
                <a:latin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3054096"/>
            <a:ext cx="214884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F2FEFF"/>
                </a:solidFill>
                <a:latin typeface="Inter"/>
              </a:rPr>
              <a:t>Подбирает продукты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F2FEFF"/>
                </a:solidFill>
                <a:latin typeface="Inter"/>
              </a:rPr>
              <a:t>банка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3986784"/>
            <a:ext cx="21671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DC7"/>
                </a:solidFill>
                <a:latin typeface="Inter"/>
              </a:rPr>
              <a:t>РКО, эквайринг,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DC7"/>
                </a:solidFill>
                <a:latin typeface="Inter"/>
              </a:rPr>
              <a:t>регистрация бизнеса</a:t>
            </a:r>
          </a:p>
        </p:txBody>
      </p:sp>
      <p:sp>
        <p:nvSpPr>
          <p:cNvPr id="25" name="Oval 24"/>
          <p:cNvSpPr/>
          <p:nvPr/>
        </p:nvSpPr>
        <p:spPr>
          <a:xfrm>
            <a:off x="10533888" y="2148840"/>
            <a:ext cx="576072" cy="576072"/>
          </a:xfrm>
          <a:prstGeom prst="ellipse">
            <a:avLst/>
          </a:prstGeom>
          <a:solidFill>
            <a:srgbClr val="04101F"/>
          </a:solidFill>
          <a:ln w="25400">
            <a:solidFill>
              <a:srgbClr val="48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33888" y="2249424"/>
            <a:ext cx="585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8E4D2"/>
                </a:solidFill>
                <a:latin typeface="Inter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054096"/>
            <a:ext cx="2148840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F2FEFF"/>
                </a:solidFill>
                <a:latin typeface="Inter"/>
              </a:rPr>
              <a:t>Формирует заявку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986784"/>
            <a:ext cx="21671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DC7"/>
                </a:solidFill>
                <a:latin typeface="Inter"/>
              </a:rPr>
              <a:t>структурированные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DC7"/>
                </a:solidFill>
                <a:latin typeface="Inter"/>
              </a:rPr>
              <a:t>данные для банка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240" y="5129784"/>
            <a:ext cx="10652760" cy="0"/>
          </a:xfrm>
          <a:prstGeom prst="line">
            <a:avLst/>
          </a:prstGeom>
          <a:ln w="1270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5528" y="5321808"/>
            <a:ext cx="32918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8E4D2"/>
                </a:solidFill>
                <a:latin typeface="Inter"/>
              </a:rPr>
              <a:t>Ключевой принцип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5742432"/>
            <a:ext cx="10652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F2FEFF"/>
                </a:solidFill>
                <a:latin typeface="Inter"/>
              </a:rPr>
              <a:t>LLM ведёт диалог и объясняет результат, но сами рекомендации строятся на данных и расчётах, а не на “догадке нейросети”.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92824"/>
            <a:ext cx="5852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8E9D"/>
                </a:solidFill>
                <a:latin typeface="Inter"/>
              </a:rPr>
              <a:t>Sab0tage  •  Академия Финтеха 2026  •  ВТБ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194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FBDC7"/>
                </a:solidFill>
                <a:latin typeface="Inter"/>
              </a:rPr>
              <a:t>BUSINESS AI  /  03 / КОНЦЕПТ ПРОДУКТА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1945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8E9D"/>
                </a:solidFill>
                <a:latin typeface="Inter"/>
              </a:rPr>
              <a:t>04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521207"/>
            <a:ext cx="10954512" cy="0"/>
          </a:xfrm>
          <a:prstGeom prst="line">
            <a:avLst/>
          </a:prstGeom>
          <a:ln w="635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70408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2FEFF"/>
                </a:solidFill>
                <a:latin typeface="Inter"/>
              </a:rPr>
              <a:t>Живой концепт №1 — диалоговый ассистент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207008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DC7"/>
                </a:solidFill>
                <a:latin typeface="Inter"/>
              </a:rPr>
              <a:t>Что видит пользователь в начале сценария.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435608"/>
            <a:ext cx="10972800" cy="5010912"/>
          </a:xfrm>
          <a:prstGeom prst="roundRect">
            <a:avLst>
              <a:gd name="adj" fmla="val 6000"/>
            </a:avLst>
          </a:prstGeom>
          <a:solidFill>
            <a:srgbClr val="0A2030"/>
          </a:solidFill>
          <a:ln w="10160">
            <a:solidFill>
              <a:srgbClr val="17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t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499616"/>
            <a:ext cx="1083564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592824"/>
            <a:ext cx="5852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8E9D"/>
                </a:solidFill>
                <a:latin typeface="Inter"/>
              </a:rPr>
              <a:t>Sab0tage  •  Академия Финтеха 2026  •  ВТБ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194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FBDC7"/>
                </a:solidFill>
                <a:latin typeface="Inter"/>
              </a:rPr>
              <a:t>BUSINESS AI  /  03 / КОНЦЕПТ ПРОДУКТА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1945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8E9D"/>
                </a:solidFill>
                <a:latin typeface="Inter"/>
              </a:rPr>
              <a:t>05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521207"/>
            <a:ext cx="10954512" cy="0"/>
          </a:xfrm>
          <a:prstGeom prst="line">
            <a:avLst/>
          </a:prstGeom>
          <a:ln w="635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70408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2FEFF"/>
                </a:solidFill>
                <a:latin typeface="Inter"/>
              </a:rPr>
              <a:t>Живой концепт №2 — карта и сравнение вариантов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207008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DC7"/>
                </a:solidFill>
                <a:latin typeface="Inter"/>
              </a:rPr>
              <a:t>Вместо одной “магической точки” — понятное сравнение локаций.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435608"/>
            <a:ext cx="10972800" cy="5010912"/>
          </a:xfrm>
          <a:prstGeom prst="roundRect">
            <a:avLst>
              <a:gd name="adj" fmla="val 6000"/>
            </a:avLst>
          </a:prstGeom>
          <a:solidFill>
            <a:srgbClr val="0A2030"/>
          </a:solidFill>
          <a:ln w="10160">
            <a:solidFill>
              <a:srgbClr val="17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p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499616"/>
            <a:ext cx="1083564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592824"/>
            <a:ext cx="5852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8E9D"/>
                </a:solidFill>
                <a:latin typeface="Inter"/>
              </a:rPr>
              <a:t>Sab0tage  •  Академия Финтеха 2026  •  ВТБ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194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FBDC7"/>
                </a:solidFill>
                <a:latin typeface="Inter"/>
              </a:rPr>
              <a:t>BUSINESS AI  /  03 / КОНЦЕПТ ПРОДУКТА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1945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8E9D"/>
                </a:solidFill>
                <a:latin typeface="Inter"/>
              </a:rPr>
              <a:t>06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521207"/>
            <a:ext cx="10954512" cy="0"/>
          </a:xfrm>
          <a:prstGeom prst="line">
            <a:avLst/>
          </a:prstGeom>
          <a:ln w="635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70408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2FEFF"/>
                </a:solidFill>
                <a:latin typeface="Inter"/>
              </a:rPr>
              <a:t>Живой концепт №3 — экономика точки и рекомендации ВТБ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207008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FBDC7"/>
                </a:solidFill>
                <a:latin typeface="Inter"/>
              </a:rPr>
              <a:t>Пользователь получает не только “где”, но и “во что это выльется”.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435608"/>
            <a:ext cx="10972800" cy="5010912"/>
          </a:xfrm>
          <a:prstGeom prst="roundRect">
            <a:avLst>
              <a:gd name="adj" fmla="val 6000"/>
            </a:avLst>
          </a:prstGeom>
          <a:solidFill>
            <a:srgbClr val="0A2030"/>
          </a:solidFill>
          <a:ln w="10160">
            <a:solidFill>
              <a:srgbClr val="17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nance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499616"/>
            <a:ext cx="1083564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592824"/>
            <a:ext cx="5852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8E9D"/>
                </a:solidFill>
                <a:latin typeface="Inter"/>
              </a:rPr>
              <a:t>Sab0tage  •  Академия Финтеха 2026  •  ВТБ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194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FBDC7"/>
                </a:solidFill>
                <a:latin typeface="Inter"/>
              </a:rPr>
              <a:t>BUSINESS AI  /  04 / ЦЕННОСТЬ ДЛЯ ПОЛЬЗОВАТЕЛЯ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1945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8E9D"/>
                </a:solidFill>
                <a:latin typeface="Inter"/>
              </a:rPr>
              <a:t>07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521207"/>
            <a:ext cx="10954512" cy="0"/>
          </a:xfrm>
          <a:prstGeom prst="line">
            <a:avLst/>
          </a:prstGeom>
          <a:ln w="635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704088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2FEFF"/>
                </a:solidFill>
                <a:latin typeface="Inter"/>
              </a:rPr>
              <a:t>Почему предприниматель будет этим пользоваться?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18488"/>
            <a:ext cx="5129784" cy="22860"/>
          </a:xfrm>
          <a:prstGeom prst="rect">
            <a:avLst/>
          </a:prstGeom>
          <a:solidFill>
            <a:srgbClr val="F08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36208" y="1618488"/>
            <a:ext cx="5193792" cy="22860"/>
          </a:xfrm>
          <a:prstGeom prst="rect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F2FEFF"/>
                </a:solidFill>
                <a:latin typeface="Inter"/>
              </a:rPr>
              <a:t>Сейчас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828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48E4D2"/>
                </a:solidFill>
                <a:latin typeface="Inter"/>
              </a:rPr>
              <a:t>С Business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32304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9FBDC7"/>
                </a:solidFill>
                <a:latin typeface="Inter"/>
              </a:rPr>
              <a:t>Открывает карты, сайты с объявлениями, таблицы и калькуляторы по отдельности.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432304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F2FEFF"/>
                </a:solidFill>
                <a:latin typeface="Inter"/>
              </a:rPr>
              <a:t>Получает единый путь: вопрос → анализ → сравнение → следующий шаг.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3191256"/>
            <a:ext cx="4956048" cy="0"/>
          </a:xfrm>
          <a:prstGeom prst="line">
            <a:avLst/>
          </a:prstGeom>
          <a:ln w="889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72784" y="3191256"/>
            <a:ext cx="5047488" cy="0"/>
          </a:xfrm>
          <a:prstGeom prst="line">
            <a:avLst/>
          </a:prstGeom>
          <a:ln w="889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346704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9FBDC7"/>
                </a:solidFill>
                <a:latin typeface="Inter"/>
              </a:rPr>
              <a:t>Собирает информацию вручную и тратит на это часы или дни.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3346704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F2FEFF"/>
                </a:solidFill>
                <a:latin typeface="Inter"/>
              </a:rPr>
              <a:t>Сразу видит сильные и слабые стороны вариантов, а не просто набор карт.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4105656"/>
            <a:ext cx="4956048" cy="0"/>
          </a:xfrm>
          <a:prstGeom prst="line">
            <a:avLst/>
          </a:prstGeom>
          <a:ln w="889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72784" y="4105656"/>
            <a:ext cx="5047488" cy="0"/>
          </a:xfrm>
          <a:prstGeom prst="line">
            <a:avLst/>
          </a:prstGeom>
          <a:ln w="889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261104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9FBDC7"/>
                </a:solidFill>
                <a:latin typeface="Inter"/>
              </a:rPr>
              <a:t>Принимает решение по неполным данным и часто без понятной финансовой оценки.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4261104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90" b="0">
                <a:solidFill>
                  <a:srgbClr val="F2FEFF"/>
                </a:solidFill>
                <a:latin typeface="Inter"/>
              </a:rPr>
              <a:t>Оценивает экономику и риски до того, как тратить деньги на запуск.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8" y="5440680"/>
            <a:ext cx="10625328" cy="0"/>
          </a:xfrm>
          <a:prstGeom prst="line">
            <a:avLst/>
          </a:prstGeom>
          <a:ln w="1143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6384" y="5577840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8E4D2"/>
                </a:solidFill>
                <a:latin typeface="Inter"/>
              </a:rPr>
              <a:t>меньше времени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989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9FBDC7"/>
                </a:solidFill>
                <a:latin typeface="Inter"/>
              </a:rPr>
              <a:t>на предварительный анализ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577840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8E4D2"/>
                </a:solidFill>
                <a:latin typeface="Inter"/>
              </a:rPr>
              <a:t>меньше хаоса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989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9FBDC7"/>
                </a:solidFill>
                <a:latin typeface="Inter"/>
              </a:rPr>
              <a:t>один интерфейс вместо 5–6 сервисов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6136" y="5577840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8E4D2"/>
                </a:solidFill>
                <a:latin typeface="Inter"/>
              </a:rPr>
              <a:t>больше ясности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6136" y="5989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9FBDC7"/>
                </a:solidFill>
                <a:latin typeface="Inter"/>
              </a:rPr>
              <a:t>почему система рекомендует именно это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92824"/>
            <a:ext cx="5852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8E9D"/>
                </a:solidFill>
                <a:latin typeface="Inter"/>
              </a:rPr>
              <a:t>Sab0tage  •  Академия Финтеха 2026  •  ВТБ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194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FBDC7"/>
                </a:solidFill>
                <a:latin typeface="Inter"/>
              </a:rPr>
              <a:t>BUSINESS AI  /  05 / ЦЕННОСТЬ ДЛЯ БАНКА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1945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8E9D"/>
                </a:solidFill>
                <a:latin typeface="Inter"/>
              </a:rPr>
              <a:t>08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521207"/>
            <a:ext cx="10954512" cy="0"/>
          </a:xfrm>
          <a:prstGeom prst="line">
            <a:avLst/>
          </a:prstGeom>
          <a:ln w="635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704088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2FEFF"/>
                </a:solidFill>
                <a:latin typeface="Inter"/>
              </a:rPr>
              <a:t>Что получает банк?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22529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9FBDC7"/>
                </a:solidFill>
                <a:latin typeface="Inter"/>
              </a:rPr>
              <a:t>Business AI — это не просто полезный сервис, а канал привлечения клиентов.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350008"/>
            <a:ext cx="9921240" cy="0"/>
          </a:xfrm>
          <a:prstGeom prst="line">
            <a:avLst/>
          </a:prstGeom>
          <a:ln w="2540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99031" y="2093976"/>
            <a:ext cx="548640" cy="548640"/>
          </a:xfrm>
          <a:prstGeom prst="ellipse">
            <a:avLst/>
          </a:prstGeom>
          <a:solidFill>
            <a:srgbClr val="04101F"/>
          </a:solidFill>
          <a:ln w="25400">
            <a:solidFill>
              <a:srgbClr val="48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2212848"/>
            <a:ext cx="5212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8E4D2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2029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F2FEFF"/>
                </a:solidFill>
                <a:latin typeface="Inter"/>
              </a:rPr>
              <a:t>Идея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483864"/>
            <a:ext cx="2011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Хочу открыть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кофейню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0" y="2093976"/>
            <a:ext cx="548640" cy="548640"/>
          </a:xfrm>
          <a:prstGeom prst="ellipse">
            <a:avLst/>
          </a:prstGeom>
          <a:solidFill>
            <a:srgbClr val="04101F"/>
          </a:solidFill>
          <a:ln w="25400">
            <a:solidFill>
              <a:srgbClr val="48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2212848"/>
            <a:ext cx="5212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8E4D2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71800"/>
            <a:ext cx="2029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F2FEFF"/>
                </a:solidFill>
                <a:latin typeface="Inter"/>
              </a:rPr>
              <a:t>Квалификация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483864"/>
            <a:ext cx="2011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город, бюджет,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формат, этап проекта</a:t>
            </a:r>
          </a:p>
        </p:txBody>
      </p:sp>
      <p:sp>
        <p:nvSpPr>
          <p:cNvPr id="17" name="Oval 16"/>
          <p:cNvSpPr/>
          <p:nvPr/>
        </p:nvSpPr>
        <p:spPr>
          <a:xfrm>
            <a:off x="5916168" y="2093976"/>
            <a:ext cx="548640" cy="548640"/>
          </a:xfrm>
          <a:prstGeom prst="ellipse">
            <a:avLst/>
          </a:prstGeom>
          <a:solidFill>
            <a:srgbClr val="04101F"/>
          </a:solidFill>
          <a:ln w="25400">
            <a:solidFill>
              <a:srgbClr val="48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5312" y="2212848"/>
            <a:ext cx="5212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8E4D2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2971800"/>
            <a:ext cx="2029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F2FEFF"/>
                </a:solidFill>
                <a:latin typeface="Inter"/>
              </a:rPr>
              <a:t>Подбор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3483864"/>
            <a:ext cx="2011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локации + продукты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банка</a:t>
            </a:r>
          </a:p>
        </p:txBody>
      </p:sp>
      <p:sp>
        <p:nvSpPr>
          <p:cNvPr id="21" name="Oval 20"/>
          <p:cNvSpPr/>
          <p:nvPr/>
        </p:nvSpPr>
        <p:spPr>
          <a:xfrm>
            <a:off x="8174736" y="2093976"/>
            <a:ext cx="548640" cy="548640"/>
          </a:xfrm>
          <a:prstGeom prst="ellipse">
            <a:avLst/>
          </a:prstGeom>
          <a:solidFill>
            <a:srgbClr val="04101F"/>
          </a:solidFill>
          <a:ln w="25400">
            <a:solidFill>
              <a:srgbClr val="48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2212848"/>
            <a:ext cx="5212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8E4D2"/>
                </a:solidFill>
                <a:latin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4656" y="2971800"/>
            <a:ext cx="2029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F2FEFF"/>
                </a:solidFill>
                <a:latin typeface="Inter"/>
              </a:rPr>
              <a:t>Заявка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3483864"/>
            <a:ext cx="2011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структурированная и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более тёплая</a:t>
            </a:r>
          </a:p>
        </p:txBody>
      </p:sp>
      <p:sp>
        <p:nvSpPr>
          <p:cNvPr id="25" name="Oval 24"/>
          <p:cNvSpPr/>
          <p:nvPr/>
        </p:nvSpPr>
        <p:spPr>
          <a:xfrm>
            <a:off x="10433304" y="2093976"/>
            <a:ext cx="548640" cy="548640"/>
          </a:xfrm>
          <a:prstGeom prst="ellipse">
            <a:avLst/>
          </a:prstGeom>
          <a:solidFill>
            <a:srgbClr val="04101F"/>
          </a:solidFill>
          <a:ln w="25400">
            <a:solidFill>
              <a:srgbClr val="48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42448" y="2212848"/>
            <a:ext cx="5212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8E4D2"/>
                </a:solidFill>
                <a:latin typeface="Inter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3224" y="2971800"/>
            <a:ext cx="2029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F2FEFF"/>
                </a:solidFill>
                <a:latin typeface="Inter"/>
              </a:rPr>
              <a:t>Клиент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3224" y="3483864"/>
            <a:ext cx="2011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РКО / эквайринг / др.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" y="4745736"/>
            <a:ext cx="10698480" cy="0"/>
          </a:xfrm>
          <a:prstGeom prst="line">
            <a:avLst/>
          </a:prstGeom>
          <a:ln w="1016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58952" y="5010912"/>
            <a:ext cx="3246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10" b="1">
                <a:solidFill>
                  <a:srgbClr val="48E4D2"/>
                </a:solidFill>
                <a:latin typeface="Inter"/>
              </a:rPr>
              <a:t>Новые лиды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5559552"/>
            <a:ext cx="340156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Банк получает клиентов ещё до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открытия бизнеса.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5010912"/>
            <a:ext cx="3246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10" b="1">
                <a:solidFill>
                  <a:srgbClr val="48E4D2"/>
                </a:solidFill>
                <a:latin typeface="Inter"/>
              </a:rPr>
              <a:t>Лучшая персонализация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5559552"/>
            <a:ext cx="340156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Рекомендации опираются на контекст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запроса, а не на массовую рассылку.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55864" y="5010912"/>
            <a:ext cx="32461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10" b="1">
                <a:solidFill>
                  <a:srgbClr val="48E4D2"/>
                </a:solidFill>
                <a:latin typeface="Inter"/>
              </a:rPr>
              <a:t>Снижение нагрузки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55864" y="5559552"/>
            <a:ext cx="340156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Часть первичного консультирования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9FBDC7"/>
                </a:solidFill>
                <a:latin typeface="Inter"/>
              </a:rPr>
              <a:t>переносится в цифровой канал.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592824"/>
            <a:ext cx="5852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8E9D"/>
                </a:solidFill>
                <a:latin typeface="Inter"/>
              </a:rPr>
              <a:t>Sab0tage  •  Академия Финтеха 2026  •  ВТБ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194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FBDC7"/>
                </a:solidFill>
                <a:latin typeface="Inter"/>
              </a:rPr>
              <a:t>BUSINESS AI  /  06 / ДАННЫЕ И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1945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8E9D"/>
                </a:solidFill>
                <a:latin typeface="Inter"/>
              </a:rPr>
              <a:t>09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521207"/>
            <a:ext cx="10954512" cy="0"/>
          </a:xfrm>
          <a:prstGeom prst="line">
            <a:avLst/>
          </a:prstGeom>
          <a:ln w="635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704088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2FEFF"/>
                </a:solidFill>
                <a:latin typeface="Inter"/>
              </a:rPr>
              <a:t>Как это реализуется?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22529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9FBDC7"/>
                </a:solidFill>
                <a:latin typeface="Inter"/>
              </a:rPr>
              <a:t>Технически MVP реализуем уже на хакатоне.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" y="1892807"/>
            <a:ext cx="2441448" cy="22860"/>
          </a:xfrm>
          <a:prstGeom prst="rect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194560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10" b="1">
                <a:solidFill>
                  <a:srgbClr val="F2FEFF"/>
                </a:solidFill>
                <a:latin typeface="Inter"/>
              </a:rPr>
              <a:t>Интерфейс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715768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9FBDC7"/>
                </a:solidFill>
                <a:latin typeface="Inter"/>
              </a:rPr>
              <a:t>React / веб-интерфейс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9FBDC7"/>
                </a:solidFill>
                <a:latin typeface="Inter"/>
              </a:rPr>
              <a:t>чат, карта, карточки локаций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2152" y="1892807"/>
            <a:ext cx="2441448" cy="22860"/>
          </a:xfrm>
          <a:prstGeom prst="rect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194560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10" b="1">
                <a:solidFill>
                  <a:srgbClr val="F2FEFF"/>
                </a:solidFill>
                <a:latin typeface="Inter"/>
              </a:rPr>
              <a:t>AI-слой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715768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9FBDC7"/>
                </a:solidFill>
                <a:latin typeface="Inter"/>
              </a:rPr>
              <a:t>LLM с function calling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9FBDC7"/>
                </a:solidFill>
                <a:latin typeface="Inter"/>
              </a:rPr>
              <a:t>ведёт диалог и собирает вводные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92807"/>
            <a:ext cx="2441448" cy="22860"/>
          </a:xfrm>
          <a:prstGeom prst="rect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194560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10" b="1">
                <a:solidFill>
                  <a:srgbClr val="F2FEFF"/>
                </a:solidFill>
                <a:latin typeface="Inter"/>
              </a:rPr>
              <a:t>Аналитика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715768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9FBDC7"/>
                </a:solidFill>
                <a:latin typeface="Inter"/>
              </a:rPr>
              <a:t>Python + FastAPI + PostGIS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9FBDC7"/>
                </a:solidFill>
                <a:latin typeface="Inter"/>
              </a:rPr>
              <a:t>поиск локаций и расчёты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5128" y="1892807"/>
            <a:ext cx="2441448" cy="22860"/>
          </a:xfrm>
          <a:prstGeom prst="rect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2194560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10" b="1">
                <a:solidFill>
                  <a:srgbClr val="F2FEFF"/>
                </a:solidFill>
                <a:latin typeface="Inter"/>
              </a:rPr>
              <a:t>Данные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2715768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9FBDC7"/>
                </a:solidFill>
                <a:latin typeface="Inter"/>
              </a:rPr>
              <a:t>OSM, GHSL, 2ГИС,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9FBDC7"/>
                </a:solidFill>
                <a:latin typeface="Inter"/>
              </a:rPr>
              <a:t>синтетические экономические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9FBDC7"/>
                </a:solidFill>
                <a:latin typeface="Inter"/>
              </a:rPr>
              <a:t>данные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952" y="4105656"/>
            <a:ext cx="10597896" cy="0"/>
          </a:xfrm>
          <a:prstGeom prst="line">
            <a:avLst/>
          </a:prstGeom>
          <a:ln w="1016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808" y="4480560"/>
            <a:ext cx="3410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48E4D2"/>
                </a:solidFill>
                <a:latin typeface="Inter"/>
              </a:rPr>
              <a:t>Что реально уже доступно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129784"/>
            <a:ext cx="3401568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9FBDC7"/>
                </a:solidFill>
                <a:latin typeface="Inter"/>
              </a:rPr>
              <a:t>OSM, дороги, здания, инфраструктура,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9FBDC7"/>
                </a:solidFill>
                <a:latin typeface="Inter"/>
              </a:rPr>
              <a:t>часть организаций, демографические оценки.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4480560"/>
            <a:ext cx="3410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48E4D2"/>
                </a:solidFill>
                <a:latin typeface="Inter"/>
              </a:rPr>
              <a:t>Что синтетическое в MVP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5129784"/>
            <a:ext cx="3401568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9FBDC7"/>
                </a:solidFill>
                <a:latin typeface="Inter"/>
              </a:rPr>
              <a:t>Пешеходный трафик, часть экономических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9FBDC7"/>
                </a:solidFill>
                <a:latin typeface="Inter"/>
              </a:rPr>
              <a:t>показателей, демонстрационные помещения.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4480560"/>
            <a:ext cx="3410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48E4D2"/>
                </a:solidFill>
                <a:latin typeface="Inter"/>
              </a:rPr>
              <a:t>Что можно подключить позже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5129784"/>
            <a:ext cx="3401568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9FBDC7"/>
                </a:solidFill>
                <a:latin typeface="Inter"/>
              </a:rPr>
              <a:t>2ГИС, МТС, Яндекс, Циан и внутренние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9FBDC7"/>
                </a:solidFill>
                <a:latin typeface="Inter"/>
              </a:rPr>
              <a:t>обезличенные данные банка.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92824"/>
            <a:ext cx="5852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8E9D"/>
                </a:solidFill>
                <a:latin typeface="Inter"/>
              </a:rPr>
              <a:t>Sab0tage  •  Академия Финтеха 2026  •  ВТБ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194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FBDC7"/>
                </a:solidFill>
                <a:latin typeface="Inter"/>
              </a:rPr>
              <a:t>BUSINESS AI  /  07 / РЫНОЧНОЕ ПОДТВЕРЖДЕНИЕ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1945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8E9D"/>
                </a:solidFill>
                <a:latin typeface="Inter"/>
              </a:rPr>
              <a:t>10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521207"/>
            <a:ext cx="10954512" cy="0"/>
          </a:xfrm>
          <a:prstGeom prst="line">
            <a:avLst/>
          </a:prstGeom>
          <a:ln w="635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704088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2FEFF"/>
                </a:solidFill>
                <a:latin typeface="Inter"/>
              </a:rPr>
              <a:t>Почему это не “идея из воздуха”?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22529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9FBDC7"/>
                </a:solidFill>
                <a:latin typeface="Inter"/>
              </a:rPr>
              <a:t>Похожие продукты и технологии уже существуют на рынке.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837943"/>
            <a:ext cx="3410712" cy="22860"/>
          </a:xfrm>
          <a:prstGeom prst="rect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12264"/>
            <a:ext cx="34564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2FEFF"/>
                </a:solidFill>
                <a:latin typeface="Inter"/>
              </a:rPr>
              <a:t>СберАналитика / Геоаналитика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62072"/>
            <a:ext cx="341071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9FBDC7"/>
                </a:solidFill>
                <a:latin typeface="Inter"/>
              </a:rPr>
              <a:t>Есть геоаналитический продукт для бизнеса.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547872"/>
            <a:ext cx="341071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9FBDC7"/>
                </a:solidFill>
                <a:latin typeface="Inter"/>
              </a:rPr>
              <a:t>Публиковался GenAI-сценарий подбора локаций.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233672"/>
            <a:ext cx="341071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9FBDC7"/>
                </a:solidFill>
                <a:latin typeface="Inter"/>
              </a:rPr>
              <a:t>В интервью 2025 года: подготовка аналитической презентации сократилась с 2–3 часов до &lt;2 минут.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1837943"/>
            <a:ext cx="3410712" cy="22860"/>
          </a:xfrm>
          <a:prstGeom prst="rect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112264"/>
            <a:ext cx="34564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2FEFF"/>
                </a:solidFill>
                <a:latin typeface="Inter"/>
              </a:rPr>
              <a:t>Альфа-Банк / Альфа-Локация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862072"/>
            <a:ext cx="341071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9FBDC7"/>
                </a:solidFill>
                <a:latin typeface="Inter"/>
              </a:rPr>
              <a:t>Сервис подбора мест для бизнеса.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547872"/>
            <a:ext cx="341071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9FBDC7"/>
                </a:solidFill>
                <a:latin typeface="Inter"/>
              </a:rPr>
              <a:t>Подтверждает интерес банков к геоаналитике.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4233672"/>
            <a:ext cx="341071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9FBDC7"/>
                </a:solidFill>
                <a:latin typeface="Inter"/>
              </a:rPr>
              <a:t>Значит, для ВТБ направление рыночно валидно.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1837943"/>
            <a:ext cx="3410712" cy="22860"/>
          </a:xfrm>
          <a:prstGeom prst="rect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2112264"/>
            <a:ext cx="34564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80" b="1">
                <a:solidFill>
                  <a:srgbClr val="F2FEFF"/>
                </a:solidFill>
                <a:latin typeface="Inter"/>
              </a:rPr>
              <a:t>Вывод для ВТБ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62072"/>
            <a:ext cx="341071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9FBDC7"/>
                </a:solidFill>
                <a:latin typeface="Inter"/>
              </a:rPr>
              <a:t>Аналоги с меньшим функционалом есть — значит, проблема настоящая.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3547872"/>
            <a:ext cx="341071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9FBDC7"/>
                </a:solidFill>
                <a:latin typeface="Inter"/>
              </a:rPr>
              <a:t>У ВТБ нет публично известного комплексного аналога.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4233672"/>
            <a:ext cx="341071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9FBDC7"/>
                </a:solidFill>
                <a:latin typeface="Inter"/>
              </a:rPr>
              <a:t>Сейчас можно занять позицию на этом сценарии.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" y="5404104"/>
            <a:ext cx="10643616" cy="0"/>
          </a:xfrm>
          <a:prstGeom prst="line">
            <a:avLst/>
          </a:prstGeom>
          <a:ln w="1016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8096" y="5513832"/>
            <a:ext cx="332841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48E4D2"/>
                </a:solidFill>
                <a:latin typeface="Inter"/>
              </a:rPr>
              <a:t>2–3 ч → &lt; 2 мин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5952744"/>
            <a:ext cx="332841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9FBDC7"/>
                </a:solidFill>
                <a:latin typeface="Inter"/>
              </a:rPr>
              <a:t>публиковавшийся эффект AI-автоматизации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9FBDC7"/>
                </a:solidFill>
                <a:latin typeface="Inter"/>
              </a:rPr>
              <a:t>у Сбера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5513832"/>
            <a:ext cx="332841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48E4D2"/>
                </a:solidFill>
                <a:latin typeface="Inter"/>
              </a:rPr>
              <a:t>аналоги уже есть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8264" y="5952744"/>
            <a:ext cx="332841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9FBDC7"/>
                </a:solidFill>
                <a:latin typeface="Inter"/>
              </a:rPr>
              <a:t>рынок понимает ценность геоаналитики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513832"/>
            <a:ext cx="332841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48E4D2"/>
                </a:solidFill>
                <a:latin typeface="Inter"/>
              </a:rPr>
              <a:t>шанс для ВТБ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952744"/>
            <a:ext cx="332841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9FBDC7"/>
                </a:solidFill>
                <a:latin typeface="Inter"/>
              </a:rPr>
              <a:t>выйти в сценарий раньше широкой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9FBDC7"/>
                </a:solidFill>
                <a:latin typeface="Inter"/>
              </a:rPr>
              <a:t>конкуренции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92824"/>
            <a:ext cx="5852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8E9D"/>
                </a:solidFill>
                <a:latin typeface="Inter"/>
              </a:rPr>
              <a:t>Sab0tage  •  Академия Финтеха 2026  •  ВТБ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194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FBDC7"/>
                </a:solidFill>
                <a:latin typeface="Inter"/>
              </a:rPr>
              <a:t>BUSINESS AI  /  08 / ЭКОНОМИКА ДЛЯ ВТБ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1945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8E9D"/>
                </a:solidFill>
                <a:latin typeface="Inter"/>
              </a:rPr>
              <a:t>11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521207"/>
            <a:ext cx="10954512" cy="0"/>
          </a:xfrm>
          <a:prstGeom prst="line">
            <a:avLst/>
          </a:prstGeom>
          <a:ln w="635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67512" y="704088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2FEFF"/>
                </a:solidFill>
                <a:latin typeface="Inter"/>
              </a:rPr>
              <a:t>Как Business AI может приносить деньги банку?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22529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9FBDC7"/>
                </a:solidFill>
                <a:latin typeface="Inter"/>
              </a:rPr>
              <a:t>Ниже — модельные сценарии, а не фактические данные ВТБ.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783080"/>
            <a:ext cx="9601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48E4D2"/>
                </a:solidFill>
                <a:latin typeface="Inter"/>
              </a:rPr>
              <a:t>Формула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1783080"/>
            <a:ext cx="95097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F2FEFF"/>
                </a:solidFill>
                <a:latin typeface="Inter"/>
              </a:rPr>
              <a:t>Диалоги → квалифицированные лиды → новые клиенты → маржинальный доход по банковским продуктам.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2340864"/>
            <a:ext cx="10716768" cy="0"/>
          </a:xfrm>
          <a:prstGeom prst="line">
            <a:avLst/>
          </a:prstGeom>
          <a:ln w="12065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8952" y="2532888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8F5E7"/>
                </a:solidFill>
                <a:latin typeface="Inter"/>
              </a:rPr>
              <a:t>Сценарий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532888"/>
            <a:ext cx="138988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8F5E7"/>
                </a:solidFill>
                <a:latin typeface="Inter"/>
              </a:rPr>
              <a:t>Диалогов / мес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532888"/>
            <a:ext cx="15910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8F5E7"/>
                </a:solidFill>
                <a:latin typeface="Inter"/>
              </a:rPr>
              <a:t>Конверсия в лид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2532888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8F5E7"/>
                </a:solidFill>
                <a:latin typeface="Inter"/>
              </a:rPr>
              <a:t>Конверсия лида 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8F5E7"/>
                </a:solidFill>
                <a:latin typeface="Inter"/>
              </a:rPr>
              <a:t>клиента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32888"/>
            <a:ext cx="14996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8F5E7"/>
                </a:solidFill>
                <a:latin typeface="Inter"/>
              </a:rPr>
              <a:t>Новых клиентов 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8F5E7"/>
                </a:solidFill>
                <a:latin typeface="Inter"/>
              </a:rPr>
              <a:t>год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8128" y="2532888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88F5E7"/>
                </a:solidFill>
                <a:latin typeface="Inter"/>
              </a:rPr>
              <a:t>Эффект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0664" y="3163824"/>
            <a:ext cx="10725912" cy="0"/>
          </a:xfrm>
          <a:prstGeom prst="line">
            <a:avLst/>
          </a:prstGeom>
          <a:ln w="1397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8952" y="3346704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2FEFF"/>
                </a:solidFill>
                <a:latin typeface="Inter"/>
              </a:rPr>
              <a:t>Консервативный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34670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F2FEFF"/>
                </a:solidFill>
                <a:latin typeface="Inter"/>
              </a:rPr>
              <a:t>5 000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3346704"/>
            <a:ext cx="159105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F2FEFF"/>
                </a:solidFill>
                <a:latin typeface="Inter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3346704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F2FEFF"/>
                </a:solidFill>
                <a:latin typeface="Inter"/>
              </a:rPr>
              <a:t>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346704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F2FEFF"/>
                </a:solidFill>
                <a:latin typeface="Inter"/>
              </a:rPr>
              <a:t>720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8128" y="3346704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0" b="1">
                <a:solidFill>
                  <a:srgbClr val="F08394"/>
                </a:solidFill>
                <a:latin typeface="Inter"/>
              </a:rPr>
              <a:t>-11,4 млн ₽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" y="3867912"/>
            <a:ext cx="10725912" cy="0"/>
          </a:xfrm>
          <a:prstGeom prst="line">
            <a:avLst/>
          </a:prstGeom>
          <a:ln w="889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6656" y="3904488"/>
            <a:ext cx="10945368" cy="566928"/>
          </a:xfrm>
          <a:prstGeom prst="roundRect">
            <a:avLst>
              <a:gd name="adj" fmla="val 7000"/>
            </a:avLst>
          </a:prstGeom>
          <a:solidFill>
            <a:srgbClr val="0C2736"/>
          </a:solidFill>
          <a:ln w="10160">
            <a:solidFill>
              <a:srgbClr val="17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014216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2FEFF"/>
                </a:solidFill>
                <a:latin typeface="Inter"/>
              </a:rPr>
              <a:t>Базовый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014216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F2FEFF"/>
                </a:solidFill>
                <a:latin typeface="Inter"/>
              </a:rPr>
              <a:t>10 000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4014216"/>
            <a:ext cx="159105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F2FEFF"/>
                </a:solidFill>
                <a:latin typeface="Inter"/>
              </a:rP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776" y="4014216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F2FEFF"/>
                </a:solidFill>
                <a:latin typeface="Inter"/>
              </a:rPr>
              <a:t>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014216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F2FEFF"/>
                </a:solidFill>
                <a:latin typeface="Inter"/>
              </a:rPr>
              <a:t>2 400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8128" y="4014216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0" b="1">
                <a:solidFill>
                  <a:srgbClr val="48E4D2"/>
                </a:solidFill>
                <a:latin typeface="Inter"/>
              </a:rPr>
              <a:t>+16 млн ₽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0664" y="4535424"/>
            <a:ext cx="10725912" cy="0"/>
          </a:xfrm>
          <a:prstGeom prst="line">
            <a:avLst/>
          </a:prstGeom>
          <a:ln w="889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58952" y="468172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F2FEFF"/>
                </a:solidFill>
                <a:latin typeface="Inter"/>
              </a:rPr>
              <a:t>Рост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681728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F2FEFF"/>
                </a:solidFill>
                <a:latin typeface="Inter"/>
              </a:rPr>
              <a:t>15 000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4681728"/>
            <a:ext cx="159105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F2FEFF"/>
                </a:solidFill>
                <a:latin typeface="Inter"/>
              </a:rPr>
              <a:t>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8776" y="468172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F2FEFF"/>
                </a:solidFill>
                <a:latin typeface="Inter"/>
              </a:rPr>
              <a:t>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681728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F2FEFF"/>
                </a:solidFill>
                <a:latin typeface="Inter"/>
              </a:rPr>
              <a:t>5 400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68128" y="46817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0" b="1">
                <a:solidFill>
                  <a:srgbClr val="48E4D2"/>
                </a:solidFill>
                <a:latin typeface="Inter"/>
              </a:rPr>
              <a:t>+67,2 млн ₽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9808" y="5394960"/>
            <a:ext cx="10707624" cy="0"/>
          </a:xfrm>
          <a:prstGeom prst="line">
            <a:avLst/>
          </a:prstGeom>
          <a:ln w="10795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68096" y="5550408"/>
            <a:ext cx="506577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70" b="1">
                <a:solidFill>
                  <a:srgbClr val="48E4D2"/>
                </a:solidFill>
                <a:latin typeface="Inter"/>
              </a:rPr>
              <a:t>Что сильнее всего влияет на экономику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5943600"/>
            <a:ext cx="4937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FBDC7"/>
                </a:solidFill>
                <a:latin typeface="Inter"/>
              </a:rPr>
              <a:t>Трафик диалогов, качество квалификации, конверсия 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FBDC7"/>
                </a:solidFill>
                <a:latin typeface="Inter"/>
              </a:rPr>
              <a:t>клиента и средняя маржа по продуктам.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550408"/>
            <a:ext cx="5001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70" b="1">
                <a:solidFill>
                  <a:srgbClr val="48E4D2"/>
                </a:solidFill>
                <a:latin typeface="Inter"/>
              </a:rPr>
              <a:t>Зачем это важно в защите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943600"/>
            <a:ext cx="508406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FBDC7"/>
                </a:solidFill>
                <a:latin typeface="Inter"/>
              </a:rPr>
              <a:t>Мы не обещаем капитализацию. Мы показываем прозрачную логику,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FBDC7"/>
                </a:solidFill>
                <a:latin typeface="Inter"/>
              </a:rPr>
              <a:t>как цифровой сервис может окупаться для банка.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592824"/>
            <a:ext cx="5852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8E9D"/>
                </a:solidFill>
                <a:latin typeface="Inter"/>
              </a:rPr>
              <a:t>Sab0tage  •  Академия Финтеха 2026  •  ВТБ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2194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FBDC7"/>
                </a:solidFill>
                <a:latin typeface="Inter"/>
              </a:rPr>
              <a:t>BUSINESS AI  /  10 / 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1945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8E9D"/>
                </a:solidFill>
                <a:latin typeface="Inter"/>
              </a:rPr>
              <a:t>12 / 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521207"/>
            <a:ext cx="10954512" cy="0"/>
          </a:xfrm>
          <a:prstGeom prst="line">
            <a:avLst/>
          </a:prstGeom>
          <a:ln w="635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932688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48E4D2"/>
                </a:solidFill>
                <a:latin typeface="Inter"/>
              </a:rPr>
              <a:t>Business AI × Банк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55648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2FEFF"/>
                </a:solidFill>
                <a:latin typeface="Inter"/>
              </a:rPr>
              <a:t>Помогаем предпринимателю принять первое решение — и помогаем банку стать его первым партнёром.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0664" y="2834640"/>
            <a:ext cx="10552176" cy="0"/>
          </a:xfrm>
          <a:prstGeom prst="line">
            <a:avLst/>
          </a:prstGeom>
          <a:ln w="1270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19125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48E4D2"/>
                </a:solidFill>
                <a:latin typeface="Inter"/>
              </a:rPr>
              <a:t>Для клиента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913632"/>
            <a:ext cx="64008" cy="64008"/>
          </a:xfrm>
          <a:prstGeom prst="ellipse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794760"/>
            <a:ext cx="31821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>
                <a:solidFill>
                  <a:srgbClr val="F2FEFF"/>
                </a:solidFill>
                <a:latin typeface="Inter"/>
              </a:rPr>
              <a:t>Проще стартовать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64008" cy="64008"/>
          </a:xfrm>
          <a:prstGeom prst="ellipse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4242816"/>
            <a:ext cx="31821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>
                <a:solidFill>
                  <a:srgbClr val="F2FEFF"/>
                </a:solidFill>
                <a:latin typeface="Inter"/>
              </a:rPr>
              <a:t>Понятнее выбирать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809744"/>
            <a:ext cx="64008" cy="64008"/>
          </a:xfrm>
          <a:prstGeom prst="ellipse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690872"/>
            <a:ext cx="31821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>
                <a:solidFill>
                  <a:srgbClr val="F2FEFF"/>
                </a:solidFill>
                <a:latin typeface="Inter"/>
              </a:rPr>
              <a:t>Легче оценивать риски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19125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48E4D2"/>
                </a:solidFill>
                <a:latin typeface="Inter"/>
              </a:rPr>
              <a:t>Для банка</a:t>
            </a:r>
          </a:p>
        </p:txBody>
      </p:sp>
      <p:sp>
        <p:nvSpPr>
          <p:cNvPr id="17" name="Oval 16"/>
          <p:cNvSpPr/>
          <p:nvPr/>
        </p:nvSpPr>
        <p:spPr>
          <a:xfrm>
            <a:off x="4434840" y="3913632"/>
            <a:ext cx="64008" cy="64008"/>
          </a:xfrm>
          <a:prstGeom prst="ellipse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7" y="3794760"/>
            <a:ext cx="31821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>
                <a:solidFill>
                  <a:srgbClr val="F2FEFF"/>
                </a:solidFill>
                <a:latin typeface="Inter"/>
              </a:rPr>
              <a:t>Ранний контакт с клиентом</a:t>
            </a:r>
          </a:p>
        </p:txBody>
      </p:sp>
      <p:sp>
        <p:nvSpPr>
          <p:cNvPr id="19" name="Oval 18"/>
          <p:cNvSpPr/>
          <p:nvPr/>
        </p:nvSpPr>
        <p:spPr>
          <a:xfrm>
            <a:off x="4434840" y="4361688"/>
            <a:ext cx="64008" cy="64008"/>
          </a:xfrm>
          <a:prstGeom prst="ellipse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4242816"/>
            <a:ext cx="31821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>
                <a:solidFill>
                  <a:srgbClr val="F2FEFF"/>
                </a:solidFill>
                <a:latin typeface="Inter"/>
              </a:rPr>
              <a:t>Лучшие лиды</a:t>
            </a:r>
          </a:p>
        </p:txBody>
      </p:sp>
      <p:sp>
        <p:nvSpPr>
          <p:cNvPr id="21" name="Oval 20"/>
          <p:cNvSpPr/>
          <p:nvPr/>
        </p:nvSpPr>
        <p:spPr>
          <a:xfrm>
            <a:off x="4434840" y="4809744"/>
            <a:ext cx="64008" cy="64008"/>
          </a:xfrm>
          <a:prstGeom prst="ellipse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7" y="4690872"/>
            <a:ext cx="31821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>
                <a:solidFill>
                  <a:srgbClr val="F2FEFF"/>
                </a:solidFill>
                <a:latin typeface="Inter"/>
              </a:rPr>
              <a:t>Новый цифровой канал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191256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48E4D2"/>
                </a:solidFill>
                <a:latin typeface="Inter"/>
              </a:rPr>
              <a:t>Для бизнеса проекта</a:t>
            </a:r>
          </a:p>
        </p:txBody>
      </p:sp>
      <p:sp>
        <p:nvSpPr>
          <p:cNvPr id="24" name="Oval 23"/>
          <p:cNvSpPr/>
          <p:nvPr/>
        </p:nvSpPr>
        <p:spPr>
          <a:xfrm>
            <a:off x="8092440" y="3913632"/>
            <a:ext cx="64008" cy="64008"/>
          </a:xfrm>
          <a:prstGeom prst="ellipse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3794760"/>
            <a:ext cx="31821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>
                <a:solidFill>
                  <a:srgbClr val="F2FEFF"/>
                </a:solidFill>
                <a:latin typeface="Inter"/>
              </a:rPr>
              <a:t>Понятная unit-экономика</a:t>
            </a:r>
          </a:p>
        </p:txBody>
      </p:sp>
      <p:sp>
        <p:nvSpPr>
          <p:cNvPr id="26" name="Oval 25"/>
          <p:cNvSpPr/>
          <p:nvPr/>
        </p:nvSpPr>
        <p:spPr>
          <a:xfrm>
            <a:off x="8092440" y="4361688"/>
            <a:ext cx="64008" cy="64008"/>
          </a:xfrm>
          <a:prstGeom prst="ellipse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4242816"/>
            <a:ext cx="31821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>
                <a:solidFill>
                  <a:srgbClr val="F2FEFF"/>
                </a:solidFill>
                <a:latin typeface="Inter"/>
              </a:rPr>
              <a:t>Гибкая архитектура</a:t>
            </a:r>
          </a:p>
        </p:txBody>
      </p:sp>
      <p:sp>
        <p:nvSpPr>
          <p:cNvPr id="28" name="Oval 27"/>
          <p:cNvSpPr/>
          <p:nvPr/>
        </p:nvSpPr>
        <p:spPr>
          <a:xfrm>
            <a:off x="8092440" y="4809744"/>
            <a:ext cx="64008" cy="64008"/>
          </a:xfrm>
          <a:prstGeom prst="ellipse">
            <a:avLst/>
          </a:prstGeom>
          <a:solidFill>
            <a:srgbClr val="48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4690872"/>
            <a:ext cx="31821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80" b="0">
                <a:solidFill>
                  <a:srgbClr val="F2FEFF"/>
                </a:solidFill>
                <a:latin typeface="Inter"/>
              </a:rPr>
              <a:t>Прозрачный путь к пилоту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8096" y="5541264"/>
            <a:ext cx="10643616" cy="0"/>
          </a:xfrm>
          <a:prstGeom prst="line">
            <a:avLst/>
          </a:prstGeom>
          <a:ln w="10160">
            <a:solidFill>
              <a:srgbClr val="174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56692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90" b="1">
                <a:solidFill>
                  <a:srgbClr val="48E4D2"/>
                </a:solidFill>
                <a:latin typeface="Inter"/>
              </a:rPr>
              <a:t>Главная мысль защиты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053328"/>
            <a:ext cx="105613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2FEFF"/>
                </a:solidFill>
                <a:latin typeface="Inter"/>
              </a:rPr>
              <a:t>Business AI — это реалистичный MVP, который можно сделать уже сейчас, а затем усилить реальными данными и встроить в экосистему банка.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92824"/>
            <a:ext cx="58521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88E9D"/>
                </a:solidFill>
                <a:latin typeface="Inter"/>
              </a:rPr>
              <a:t>Sab0tage  •  Академия Финтеха 2026  •  ВТБ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